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Climate Risk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0D0D0"/>
                </a:solidFill>
              </a:defRPr>
            </a:pPr>
            <a:r>
              <a:t>Samcheok Coal-Fired Power Plant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34640"/>
            <a:ext cx="2743200" cy="5080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Cashflow Assumptions, Physical Risk Methodology &amp; Key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t>Model: DCF + Monte Carlo  |  Physical Risk: CLIMADA + OS-Climate (PLANiT)  |  11 Scenarios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Plant Overview &amp; Key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1: CASHFLOW ASSUMPTIONS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7315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Installed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Baseline Capacity Factor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Operating Life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Total CAPEX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4,900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million USD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Commercial Operation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Heat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MMBtu/MWh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CO₂ Emissions Intensity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tCO₂/MWh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Base Outage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1554480"/>
            <a:ext cx="3474720" cy="4114800"/>
          </a:xfrm>
          <a:prstGeom prst="roundRect">
            <a:avLst/>
          </a:prstGeom>
          <a:solidFill>
            <a:srgbClr val="EBF5FB"/>
          </a:solidFill>
          <a:ln>
            <a:solidFill>
              <a:srgbClr val="007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Key Highlights</a:t>
            </a:r>
          </a:p>
          <a:p>
            <a:pPr>
              <a:spcBef>
                <a:spcPts val="600"/>
              </a:spcBef>
              <a:defRPr sz="1200">
                <a:solidFill>
                  <a:srgbClr val="333333"/>
                </a:solidFill>
              </a:defRPr>
            </a:pPr>
            <a:r>
              <a:t>•  Largest coal plant in Korea</a:t>
            </a:r>
          </a:p>
          <a:p>
            <a:pPr>
              <a:spcBef>
                <a:spcPts val="600"/>
              </a:spcBef>
              <a:defRPr sz="1200">
                <a:solidFill>
                  <a:srgbClr val="333333"/>
                </a:solidFill>
              </a:defRPr>
            </a:pPr>
            <a:r>
              <a:t>•  Annual generation: ~15.6 TWh</a:t>
            </a:r>
          </a:p>
          <a:p>
            <a:pPr>
              <a:spcBef>
                <a:spcPts val="600"/>
              </a:spcBef>
              <a:defRPr sz="1200">
                <a:solidFill>
                  <a:srgbClr val="333333"/>
                </a:solidFill>
              </a:defRPr>
            </a:pPr>
            <a:r>
              <a:t>•  Baseline revenue: ~USD 1,252M/yr</a:t>
            </a:r>
          </a:p>
          <a:p>
            <a:pPr>
              <a:spcBef>
                <a:spcPts val="600"/>
              </a:spcBef>
              <a:defRPr sz="1200">
                <a:solidFill>
                  <a:srgbClr val="333333"/>
                </a:solidFill>
              </a:defRPr>
            </a:pPr>
            <a:r>
              <a:t>•  40-year DCF horizon</a:t>
            </a:r>
          </a:p>
          <a:p>
            <a:pPr>
              <a:spcBef>
                <a:spcPts val="600"/>
              </a:spcBef>
              <a:defRPr sz="1200">
                <a:solidFill>
                  <a:srgbClr val="333333"/>
                </a:solidFill>
              </a:defRPr>
            </a:pPr>
            <a:r>
              <a:t>•  Korea-specific climate parameters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Electricity Price &amp;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1: CASHFLOW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Price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Base power price: 80 USD/MWh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SMP trajectory: 85 → 58 USD/MWh (2024–2050)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Carbon price: 15 → 150 USD/tCO₂ (2024–2050)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Carbon cost = 0.95 tCO₂/MWh × carbon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Revenue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Annual generation = 2,100 MW × 0.85 CF × 8,760 h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                         = 15,638,400 MWh/yr (~15.6 TWh)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Baseline revenue = 15.6 TWh × 80 USD/MWh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                           = ~USD 1,252 M/yr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Revenue formula: Annual MWh × (SMP − Carbon Cost)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FDF2E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E67E22"/>
                </a:solidFill>
              </a:defRPr>
            </a:pPr>
            <a:r>
              <a:t>Key Insight: Rising carbon costs progressively erode coal plant margins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Under aggressive transition, carbon costs of 150 USD/tCO₂ add ~142 USD/MWh, far exceeding the SMP of 58 USD/MWh by 2050.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Cost Structure &amp; Financing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1: CASHFLOW ASSUMPTIONS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9601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Cost Component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Annual Amount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Fuel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9.5 MMBtu/MWh × 3.2 USD/MMBtu = 30.4 USD/MWh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USD 475 M/yr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Fixed O&amp;M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35 USD/kW-yr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USD 73.5 M/yr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Variable 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4.5 USD/MWh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USD 70.4 M/yr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Total Operating Cost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USD 619 M/yr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Financing Structure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06240"/>
          <a:ext cx="5943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Debt /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70% /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Debt Interest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Debt Tenor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Discount Rate (WACC)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Tax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USD 4,900 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554480"/>
            <a:ext cx="3931920" cy="4572000"/>
          </a:xfrm>
          <a:prstGeom prst="roundRect">
            <a:avLst/>
          </a:prstGeom>
          <a:solidFill>
            <a:srgbClr val="EBF5FB"/>
          </a:solidFill>
          <a:ln>
            <a:solidFill>
              <a:srgbClr val="007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Baseline Economics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Revenue: USD 1,252 M/yr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Operating Cost: USD 619 M/yr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EBITDA: USD 633 M/yr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EBITDA Margin: ~51%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NPV (8% disc.): USD 3,103 M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Project IRR: 12.0%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Avg DSCR: 2.15x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Physical Risk Framework: PLANiT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2: PHYSICAL RISK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914400"/>
          </a:xfrm>
          <a:prstGeom prst="roundRect">
            <a:avLst/>
          </a:prstGeom>
          <a:solidFill>
            <a:srgbClr val="EBF5FB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2A4A"/>
                </a:solidFill>
              </a:defRPr>
            </a:pPr>
            <a:r>
              <a:t>CLIMADA</a:t>
            </a:r>
            <a:br/>
            <a:r>
              <a:t>(Wildfire AAI)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2057400"/>
            <a:ext cx="914400" cy="457200"/>
          </a:xfrm>
          <a:prstGeom prst="rightArrow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2560320" cy="914400"/>
          </a:xfrm>
          <a:prstGeom prst="roundRect">
            <a:avLst/>
          </a:prstGeom>
          <a:solidFill>
            <a:srgbClr val="EBF5FB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2A4A"/>
                </a:solidFill>
              </a:defRPr>
            </a:pPr>
            <a:r>
              <a:t>OS-Climate PhysRisk</a:t>
            </a:r>
            <a:br/>
            <a:r>
              <a:t>(Drought)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3337560"/>
            <a:ext cx="914400" cy="457200"/>
          </a:xfrm>
          <a:prstGeom prst="rightArrow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2560320" cy="914400"/>
          </a:xfrm>
          <a:prstGeom prst="roundRect">
            <a:avLst/>
          </a:prstGeom>
          <a:solidFill>
            <a:srgbClr val="EBF5FB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2A4A"/>
                </a:solidFill>
              </a:defRPr>
            </a:pPr>
            <a:r>
              <a:t>OS-Climate PhysRisk</a:t>
            </a:r>
            <a:br/>
            <a:r>
              <a:t>(Water Risk)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4617720"/>
            <a:ext cx="914400" cy="457200"/>
          </a:xfrm>
          <a:prstGeom prst="rightArrow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2286000" cy="2743200"/>
          </a:xfrm>
          <a:prstGeom prst="roundRect">
            <a:avLst/>
          </a:prstGeom>
          <a:solidFill>
            <a:srgbClr val="007B7F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PLANiT</a:t>
            </a:r>
            <a:br/>
            <a:r>
              <a:t>Adapter</a:t>
            </a:r>
          </a:p>
          <a:p>
            <a:br/>
            <a:pPr algn="ctr">
              <a:defRPr sz="1000">
                <a:solidFill>
                  <a:srgbClr val="E0F0F0"/>
                </a:solidFill>
              </a:defRPr>
            </a:pPr>
            <a:r>
              <a:t>Converts raw</a:t>
            </a:r>
            <a:br/>
            <a:r>
              <a:t>hazard outputs to</a:t>
            </a:r>
            <a:br/>
            <a:r>
              <a:t>cashflow impacts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58000" y="3017520"/>
            <a:ext cx="914400" cy="457200"/>
          </a:xfrm>
          <a:prstGeom prst="rightArrow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2286000" cy="2743200"/>
          </a:xfrm>
          <a:prstGeom prst="roundRect">
            <a:avLst/>
          </a:prstGeom>
          <a:solidFill>
            <a:srgbClr val="1B2A4A"/>
          </a:solidFill>
          <a:ln>
            <a:solidFill>
              <a:srgbClr val="007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Physical</a:t>
            </a:r>
            <a:br/>
            <a:r>
              <a:t>Adjustments</a:t>
            </a:r>
          </a:p>
          <a:p>
            <a:br/>
            <a:pPr algn="ctr">
              <a:defRPr sz="1000">
                <a:solidFill>
                  <a:srgbClr val="A0D0D0"/>
                </a:solidFill>
              </a:defRPr>
            </a:pPr>
            <a:r>
              <a:t>• outage_rate</a:t>
            </a:r>
            <a:br/>
            <a:r>
              <a:t>• capacity_derate</a:t>
            </a:r>
            <a:br/>
            <a:r>
              <a:t>• capex_increase</a:t>
            </a:r>
            <a:br/>
            <a:r>
              <a:t>• insurance_increase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515600" y="3017520"/>
            <a:ext cx="640080" cy="45720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0" y="2560320"/>
            <a:ext cx="109728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CF</a:t>
            </a:r>
            <a:br/>
            <a: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Source: src/planit/adapter.py, src/planit/config.py  |  SSP Mapping: baseline→historical, moderate→SSP1-2.6, high→SSP5-8.5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Samcheok Site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2: PHYSICAL RISK METHODOLOGY</a:t>
            </a:r>
          </a:p>
        </p:txBody>
      </p:sp>
      <p:pic>
        <p:nvPicPr>
          <p:cNvPr id="4" name="Picture 3" descr="fig_samcheo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554480"/>
            <a:ext cx="3657600" cy="5029200"/>
          </a:xfrm>
          <a:prstGeom prst="roundRect">
            <a:avLst/>
          </a:prstGeom>
          <a:solidFill>
            <a:srgbClr val="EBF5FB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Site Details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Location: Samcheok, Gangwon Province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Coordinates: 129.174°E, 37.409°N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Coastal site on East Sea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Connected via 765kV transmission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Grid: Samcheok → Sintaebaek Substation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Physical Risk Exposure: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  • Wildfire: Forest zones to west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  • Drought: Water-cooled system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  • Water Risk: Coastal cooling intake</a:t>
            </a: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333333"/>
                </a:solidFill>
              </a:defRPr>
            </a:pPr>
            <a:r>
              <a:t>Korean name: 삼첩화력발전소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Hazard Interpretation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2: PHYSICAL RISK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How raw PLANiT outputs become cashflow impacts: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45720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Hazard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Raw Output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Conversion Formula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Wildfire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AAI (KRW)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outage_rate = AAI / replacement_value (4.879T)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67.9M KRW → 0.001%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Drought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impact_mean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capacity_derate = impact_mean × 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0.00094 → 0.094%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Water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impact_mean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water_cap = max(0, 1 − impact_mean)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0.00702 → 99.3% avail.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Compound Risk Multiplier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Hazards are not independent — droughts increase wildfire risk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Compound multiplier range: 1.0x (baseline) to 1.25x (high scenario)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Based on Zscheischler et al. (2018) compound event framework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 Total CF Loss = (wildfire + drought + water risk) × compound_mult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Source: src/planit/adapter.py, src/planit/config.py  |  Replacement value: KRW 4.879 trillion (KEPCO asset registry)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Physical Risk by SSP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2: PHYSICAL RISK METHODOLOGY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9601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Wildfire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Drought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Water Risk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 CF Loss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Baseline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SSP1-2.6 (2040)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0.005%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0.257%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0.559%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SSP5-8.5 (2050)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0.546%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0.648%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PLANiT vs Literature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023360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Wildfire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Flood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PLANiT (site-specific)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CLIMADA AAI for Samcheok coordinates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Literature (Korea avg)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0.055%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0.003%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Kim et al. 2025 / Kang &amp; Lee 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55x 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PLANiT more granular; site in low-risk zone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E8F8F5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300" b="1">
                <a:solidFill>
                  <a:srgbClr val="1E8E4E"/>
                </a:solidFill>
              </a:defRPr>
            </a:pPr>
            <a:r>
              <a:t>Conclusion: Physical risk at Samcheok is modest (&lt; 1% CF loss even under SSP5-8.5). Transition and policy risks dominate the CRP.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Scenario Comparison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3: KEY RESULTS</a:t>
            </a:r>
          </a:p>
        </p:txBody>
      </p:sp>
      <p:pic>
        <p:nvPicPr>
          <p:cNvPr id="4" name="Picture 3" descr="fig1_np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6400800" cy="4846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645920"/>
          <a:ext cx="6400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914400"/>
                <a:gridCol w="914400"/>
                <a:gridCol w="9144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NPV (M)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DSCR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Moderate Transition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2,038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1.90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Aggressive Transition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Combined Aggressive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1.51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Low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Enhanced 11th Plan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-2,998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-8.1%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NPV in million USD, 8% discount rate. IRR = Project Internal Rate of Return. DSCR = Debt Service Coverage Ratio. Rating per KIS methodology.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Credit Rating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3: KEY RESULTS</a:t>
            </a:r>
          </a:p>
        </p:txBody>
      </p:sp>
      <p:pic>
        <p:nvPicPr>
          <p:cNvPr id="4" name="Picture 3" descr="fig3_rating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731520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554480"/>
            <a:ext cx="3657600" cy="4846320"/>
          </a:xfrm>
          <a:prstGeom prst="roundRect">
            <a:avLst/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Rating Migration Summary</a:t>
            </a:r>
          </a:p>
          <a:p>
            <a:pPr>
              <a:spcBef>
                <a:spcPts val="1000"/>
              </a:spcBef>
            </a:pPr>
          </a:p>
          <a:p>
            <a:pPr>
              <a:defRPr sz="1200" b="1">
                <a:solidFill>
                  <a:srgbClr val="27AE60"/>
                </a:solidFill>
              </a:defRPr>
            </a:pPr>
            <a:r>
              <a:t>↑ Baseline: A → AA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Upgrade by 1 notch (CRP = -50 bps)</a:t>
            </a:r>
          </a:p>
          <a:p>
            <a:pPr>
              <a:spcBef>
                <a:spcPts val="1000"/>
              </a:spcBef>
            </a:pPr>
          </a:p>
          <a:p>
            <a:pPr>
              <a:defRPr sz="1200" b="1">
                <a:solidFill>
                  <a:srgbClr val="333333"/>
                </a:solidFill>
              </a:defRPr>
            </a:pPr>
            <a:r>
              <a:t>→ Moderate Transition: A → A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No change (CRP = 0 bps)</a:t>
            </a:r>
          </a:p>
          <a:p>
            <a:pPr>
              <a:spcBef>
                <a:spcPts val="1000"/>
              </a:spcBef>
            </a:pPr>
          </a:p>
          <a:p>
            <a:pPr>
              <a:defRPr sz="1200" b="1">
                <a:solidFill>
                  <a:srgbClr val="333333"/>
                </a:solidFill>
              </a:defRPr>
            </a:pPr>
            <a:r>
              <a:t>→ Aggressive Transition: A → A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No change (CRP = 0 bps)</a:t>
            </a:r>
          </a:p>
          <a:p>
            <a:pPr>
              <a:spcBef>
                <a:spcPts val="1000"/>
              </a:spcBef>
            </a:pPr>
          </a:p>
          <a:p>
            <a:pPr>
              <a:defRPr sz="1200" b="1">
                <a:solidFill>
                  <a:srgbClr val="E67E22"/>
                </a:solidFill>
              </a:defRPr>
            </a:pPr>
            <a:r>
              <a:t>↓ Low Demand: A → BBB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Downgrade 1 notch (CRP = +85 bps)</a:t>
            </a:r>
          </a:p>
          <a:p>
            <a:pPr>
              <a:spcBef>
                <a:spcPts val="1000"/>
              </a:spcBef>
            </a:pPr>
          </a:p>
          <a:p>
            <a:pPr>
              <a:defRPr sz="1200" b="1">
                <a:solidFill>
                  <a:srgbClr val="C0392B"/>
                </a:solidFill>
              </a:defRPr>
            </a:pPr>
            <a:r>
              <a:t>↓↓ Enhanced 11th Plan: A → CC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Downgrade 5 notches (CRP = +1,020 bps)</a:t>
            </a:r>
          </a:p>
          <a:p/>
          <a:p>
            <a:pPr>
              <a:defRPr sz="1100" b="1">
                <a:solidFill>
                  <a:srgbClr val="1B2A4A"/>
                </a:solidFill>
              </a:defRPr>
            </a:pPr>
            <a:r>
              <a:t>Counterfactual: A (150 bps)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7F"/>
                </a:solidFill>
              </a:defRPr>
            </a:pPr>
            <a:r>
              <a:t>SECTION 3: KEY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2011680"/>
          </a:xfrm>
          <a:prstGeom prst="roundRect">
            <a:avLst/>
          </a:prstGeom>
          <a:solidFill>
            <a:srgbClr val="E8F8F5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1. Physical Risk is Modest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Physical hazards cause only 0.10–0.82% capacity factor loss. Even under SSP5-8.5, the NPV impact is less than USD 62M (2% of baseline NPV). Physical risk is not the primary driver of climate risk premium.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486400" cy="2011680"/>
          </a:xfrm>
          <a:prstGeom prst="roundRect">
            <a:avLst/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2. Transition/Policy Risk Dominates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Korea's 11th Basic Energy Plan causes CC-rated distress (NPV −USD 3.0B, DSCR 0.59x). The aggressive coal phase-out policy alone drives a 5-notch downgrade and CRP of +1,020 bps.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5486400" cy="2011680"/>
          </a:xfrm>
          <a:prstGeom prst="roundRect">
            <a:avLst/>
          </a:prstGeom>
          <a:solidFill>
            <a:srgbClr val="FDF2E9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3. CRP Range: −50 to +1,020 bps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The climate risk premium spans from −50 bps (baseline upgrade to AA) to +1,020 bps (enhanced 11th plan, CC distress). Investment-grade is maintained through combined_aggressive; breached only under policy acceleration.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486400" cy="2011680"/>
          </a:xfrm>
          <a:prstGeom prst="roundRect">
            <a:avLst/>
          </a:prstGeom>
          <a:solidFill>
            <a:srgbClr val="EBF5FB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4. Investment Implications</a:t>
            </a:r>
          </a:p>
          <a:p>
            <a:pPr>
              <a:spcBef>
                <a:spcPts val="800"/>
              </a:spcBef>
              <a:defRPr sz="1200">
                <a:solidFill>
                  <a:srgbClr val="333333"/>
                </a:solidFill>
              </a:defRPr>
            </a:pPr>
            <a:r>
              <a:t>Current baseline economics are strong (AA, 12% IRR, DSCR 2.15x). However, investors must price in transition policy tail risk. The 11th Basic Plan scenario represents a realistic near-term threat that could strand the asset entirely.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Climate Risk Premium Model  |  Samcheok 2,100 MW  |  11 scenarios, 40-year DCF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